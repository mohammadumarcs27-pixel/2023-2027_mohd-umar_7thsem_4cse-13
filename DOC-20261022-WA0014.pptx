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dfb91a2-1b2f-dfe9-d99c-85c210208a95}">
          <p14:sldIdLst>
            <p14:sldId id="256"/>
          </p14:sldIdLst>
        </p14:section>
        <p14:section name="Introduction" id="{f9656f84-6f0c-5da6-4faf-80d78b42f23f}">
          <p14:sldIdLst>
            <p14:sldId id="257"/>
            <p14:sldId id="258"/>
            <p14:sldId id="259"/>
          </p14:sldIdLst>
        </p14:section>
        <p14:section name="Project Design" id="{47b18719-4530-7d2c-e985-750be7a4374e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Results" id="{cc1967ea-4176-319a-9d3b-d79a4e909233}">
          <p14:sldIdLst>
            <p14:sldId id="266"/>
            <p14:sldId id="267"/>
          </p14:sldIdLst>
        </p14:section>
        <p14:section name="Closing" id="{a207e6e3-d00d-8c47-ff9b-9018d63a18b5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2B2E"/>
                </a:solidFill>
                <a:latin typeface="+mn-lt"/>
              </a:rPr>
              <a:t>Default escalation risk (x baseline)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5FB3A8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B3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604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</c:v>
                  </c:pt>
                  <c:pt idx="1">
                    <c:v>Both risk factors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3.4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A2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program (Tata / Forage GenAI Powered Data Analytics Job Simulation) and what the project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of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Managing credit default risk is a critical mandate in financial services. This project moves collections from reactive to proactive using ML and GenAI.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Tata Group and the Forage platform that hosts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Geldium faces rising delinquency; manual post-default outreach is costly and ineffective.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from EDA to the agentic AI collections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spans analysis through to the architecture of a human-in-the-loop outreach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stack, three model families, SHAP for explainability, GenAI for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tiers: ingestion, predictive engine, decision engine, learning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 matching the four Forage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Borrowers with over 80% utilization and 2+ missed payments in 6 months show 3.4x default escalation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Projected outcomes if the framework is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over October 2026; certificate issued October 22nd,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references used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09728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15468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GenAI Powered Data Analytics  |  Mohammad Umar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7432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B.TECH CSE  |  INTERNSHIP REPORT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40080" y="10972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GenAI Powered Data Analytics Job Simulation</a:t>
            </a:r>
            <a:endParaRPr lang="en-US" sz="36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640080" y="31546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Mohammad Umar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Roll No. 20230101089  |  Batch 2026-27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School of Computer Science and Engineering, IILM University, Greater Noida</a:t>
            </a:r>
            <a:endParaRPr lang="en-US" sz="1600" dirty="0"/>
          </a:p>
        </p:txBody>
      </p:sp>
      <p:sp>
        <p:nvSpPr>
          <p:cNvPr id="6" name="Hero circle"/>
          <p:cNvSpPr/>
          <p:nvPr/>
        </p:nvSpPr>
        <p:spPr>
          <a:xfrm>
            <a:off x="6675120" y="146304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Hero icon" descr="Line 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11680"/>
            <a:ext cx="914400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Tata / Forage Virtual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Agenda card 1"/>
          <p:cNvSpPr/>
          <p:nvPr/>
        </p:nvSpPr>
        <p:spPr>
          <a:xfrm>
            <a:off x="457200" y="1280160"/>
            <a:ext cx="39776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48132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280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Introduction &amp; organization</a:t>
            </a:r>
            <a:endParaRPr lang="en-US" sz="1800" dirty="0"/>
          </a:p>
        </p:txBody>
      </p:sp>
      <p:sp>
        <p:nvSpPr>
          <p:cNvPr id="7" name="Agenda card 2"/>
          <p:cNvSpPr/>
          <p:nvPr/>
        </p:nvSpPr>
        <p:spPr>
          <a:xfrm>
            <a:off x="4709160" y="1280160"/>
            <a:ext cx="39776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937760" y="148132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280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 &amp; objectives</a:t>
            </a:r>
            <a:endParaRPr lang="en-US" sz="1800" dirty="0"/>
          </a:p>
        </p:txBody>
      </p:sp>
      <p:sp>
        <p:nvSpPr>
          <p:cNvPr id="10" name="Agenda card 3"/>
          <p:cNvSpPr/>
          <p:nvPr/>
        </p:nvSpPr>
        <p:spPr>
          <a:xfrm>
            <a:off x="457200" y="2377440"/>
            <a:ext cx="39776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257860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377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Scope &amp; tools</a:t>
            </a:r>
            <a:endParaRPr lang="en-US" sz="1800" dirty="0"/>
          </a:p>
        </p:txBody>
      </p:sp>
      <p:sp>
        <p:nvSpPr>
          <p:cNvPr id="13" name="Agenda card 4"/>
          <p:cNvSpPr/>
          <p:nvPr/>
        </p:nvSpPr>
        <p:spPr>
          <a:xfrm>
            <a:off x="4709160" y="2377440"/>
            <a:ext cx="39776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937760" y="257860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2377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Architecture &amp; methodology</a:t>
            </a:r>
            <a:endParaRPr lang="en-US" sz="1800" dirty="0"/>
          </a:p>
        </p:txBody>
      </p:sp>
      <p:sp>
        <p:nvSpPr>
          <p:cNvPr id="16" name="Agenda card 5"/>
          <p:cNvSpPr/>
          <p:nvPr/>
        </p:nvSpPr>
        <p:spPr>
          <a:xfrm>
            <a:off x="457200" y="3474720"/>
            <a:ext cx="39776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5"/>
          <p:cNvSpPr txBox="1"/>
          <p:nvPr/>
        </p:nvSpPr>
        <p:spPr>
          <a:xfrm>
            <a:off x="685800" y="367588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474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findings &amp; outcomes</a:t>
            </a:r>
            <a:endParaRPr lang="en-US" sz="1800" dirty="0"/>
          </a:p>
        </p:txBody>
      </p:sp>
      <p:sp>
        <p:nvSpPr>
          <p:cNvPr id="19" name="Agenda card 6"/>
          <p:cNvSpPr/>
          <p:nvPr/>
        </p:nvSpPr>
        <p:spPr>
          <a:xfrm>
            <a:off x="4709160" y="3474720"/>
            <a:ext cx="39776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6"/>
          <p:cNvSpPr txBox="1"/>
          <p:nvPr/>
        </p:nvSpPr>
        <p:spPr>
          <a:xfrm>
            <a:off x="4937760" y="3675888"/>
            <a:ext cx="512064" cy="51206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474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Verification &amp; references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Managing credit default risk and account delinquency is a critical operational mandate in modern financial services.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7432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This project applies AI and Machine Learning with Generative AI workflows to turn traditional, reactive debt collection into a proactive, predictive risk-mitigation framework.</a:t>
            </a:r>
            <a:endParaRPr lang="en-US" sz="1600" dirty="0"/>
          </a:p>
        </p:txBody>
      </p:sp>
      <p:sp>
        <p:nvSpPr>
          <p:cNvPr id="6" name="Intro card 1"/>
          <p:cNvSpPr/>
          <p:nvPr/>
        </p:nvSpPr>
        <p:spPr>
          <a:xfrm>
            <a:off x="4937760" y="1280160"/>
            <a:ext cx="374904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ntro icon 1 circle"/>
          <p:cNvSpPr/>
          <p:nvPr/>
        </p:nvSpPr>
        <p:spPr>
          <a:xfrm>
            <a:off x="512064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ntro icon 1" descr="Intro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1117" y="1623517"/>
            <a:ext cx="273406" cy="2734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0" y="1435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Reactive to proactive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risk before default occurs</a:t>
            </a:r>
            <a:endParaRPr lang="en-US" sz="1400" dirty="0"/>
          </a:p>
        </p:txBody>
      </p:sp>
      <p:sp>
        <p:nvSpPr>
          <p:cNvPr id="11" name="Intro card 2"/>
          <p:cNvSpPr/>
          <p:nvPr/>
        </p:nvSpPr>
        <p:spPr>
          <a:xfrm>
            <a:off x="4937760" y="2423160"/>
            <a:ext cx="374904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ntro icon 2 circle"/>
          <p:cNvSpPr/>
          <p:nvPr/>
        </p:nvSpPr>
        <p:spPr>
          <a:xfrm>
            <a:off x="5120640" y="2606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ntro icon 2" descr="Intro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17" y="2766517"/>
            <a:ext cx="273406" cy="27340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43600" y="2578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 + GenAI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 models with GenAI workflows</a:t>
            </a:r>
            <a:endParaRPr lang="en-US" sz="1400" dirty="0"/>
          </a:p>
        </p:txBody>
      </p:sp>
      <p:sp>
        <p:nvSpPr>
          <p:cNvPr id="16" name="Intro card 3"/>
          <p:cNvSpPr/>
          <p:nvPr/>
        </p:nvSpPr>
        <p:spPr>
          <a:xfrm>
            <a:off x="4937760" y="3566160"/>
            <a:ext cx="374904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ntro icon 3 circle"/>
          <p:cNvSpPr/>
          <p:nvPr/>
        </p:nvSpPr>
        <p:spPr>
          <a:xfrm>
            <a:off x="5120640" y="3749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ntro icon 3" descr="Intro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117" y="3909517"/>
            <a:ext cx="273406" cy="2734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943600" y="3721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End to end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943600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raw EDA to agentic outreach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Organization Profile</a:t>
            </a:r>
            <a:endParaRPr lang="en-US" sz="3200" dirty="0"/>
          </a:p>
        </p:txBody>
      </p:sp>
      <p:sp>
        <p:nvSpPr>
          <p:cNvPr id="4" name="Org stat 1"/>
          <p:cNvSpPr/>
          <p:nvPr/>
        </p:nvSpPr>
        <p:spPr>
          <a:xfrm>
            <a:off x="457200" y="1280160"/>
            <a:ext cx="2560320" cy="1737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30+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companies in the group</a:t>
            </a:r>
            <a:endParaRPr lang="en-US" sz="1400" dirty="0"/>
          </a:p>
        </p:txBody>
      </p:sp>
      <p:sp>
        <p:nvSpPr>
          <p:cNvPr id="7" name="Org stat 2"/>
          <p:cNvSpPr/>
          <p:nvPr/>
        </p:nvSpPr>
        <p:spPr>
          <a:xfrm>
            <a:off x="3291840" y="128016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verticals incl. technology, financial services, retail</a:t>
            </a:r>
            <a:endParaRPr lang="en-US" sz="1400" dirty="0"/>
          </a:p>
        </p:txBody>
      </p:sp>
      <p:sp>
        <p:nvSpPr>
          <p:cNvPr id="10" name="Org stat 3"/>
          <p:cNvSpPr/>
          <p:nvPr/>
        </p:nvSpPr>
        <p:spPr>
          <a:xfrm>
            <a:off x="6126480" y="128016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Forage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194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open-access virtual experience platform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Tata Group is a global enterprise headquartered in India. Through its partnership with Forage, Tata offers immersive job simulations in which engineering students solve real-world industry problems using data science methods.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4" name="Problem banner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34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Geldium Financial Services faces rising delinquency in its retail credit card portfolio.</a:t>
            </a:r>
            <a:endParaRPr lang="en-US" sz="1600" dirty="0"/>
          </a:p>
        </p:txBody>
      </p:sp>
      <p:sp>
        <p:nvSpPr>
          <p:cNvPr id="6" name="Problem column 1"/>
          <p:cNvSpPr/>
          <p:nvPr/>
        </p:nvSpPr>
        <p:spPr>
          <a:xfrm>
            <a:off x="457200" y="2240280"/>
            <a:ext cx="3977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Today: reactive recovery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Post-default manual phone outreach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operational costs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borrower engagement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 friction</a:t>
            </a:r>
            <a:endParaRPr lang="en-US" sz="1400" dirty="0"/>
          </a:p>
        </p:txBody>
      </p:sp>
      <p:sp>
        <p:nvSpPr>
          <p:cNvPr id="9" name="Problem column 2"/>
          <p:cNvSpPr/>
          <p:nvPr/>
        </p:nvSpPr>
        <p:spPr>
          <a:xfrm>
            <a:off x="4709160" y="2240280"/>
            <a:ext cx="3977640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Needed: proactive system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8348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Automated and data-driven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Early behavioral indicators of delinquency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Fair, personalized interventions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Action before default occurs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4" name="Objective card 1"/>
          <p:cNvSpPr/>
          <p:nvPr/>
        </p:nvSpPr>
        <p:spPr>
          <a:xfrm>
            <a:off x="457200" y="128016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Exploratory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Isolate key risk drivers such as credit utilization and missed payments</a:t>
            </a:r>
            <a:endParaRPr lang="en-US" sz="1400" dirty="0"/>
          </a:p>
        </p:txBody>
      </p:sp>
      <p:sp>
        <p:nvSpPr>
          <p:cNvPr id="8" name="Objective card 2"/>
          <p:cNvSpPr/>
          <p:nvPr/>
        </p:nvSpPr>
        <p:spPr>
          <a:xfrm>
            <a:off x="4709160" y="128016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2"/>
          <p:cNvSpPr txBox="1"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 modeling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customer delinquency probabilities accurately</a:t>
            </a:r>
            <a:endParaRPr lang="en-US" sz="1400" dirty="0"/>
          </a:p>
        </p:txBody>
      </p:sp>
      <p:sp>
        <p:nvSpPr>
          <p:cNvPr id="12" name="Objective card 3"/>
          <p:cNvSpPr/>
          <p:nvPr/>
        </p:nvSpPr>
        <p:spPr>
          <a:xfrm>
            <a:off x="457200" y="297180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3"/>
          <p:cNvSpPr txBox="1"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SMART recommendations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predicted risk directly to financial action plans</a:t>
            </a:r>
            <a:endParaRPr lang="en-US" sz="1400" dirty="0"/>
          </a:p>
        </p:txBody>
      </p:sp>
      <p:sp>
        <p:nvSpPr>
          <p:cNvPr id="16" name="Objective card 4"/>
          <p:cNvSpPr/>
          <p:nvPr/>
        </p:nvSpPr>
        <p:spPr>
          <a:xfrm>
            <a:off x="4709160" y="297180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4"/>
          <p:cNvSpPr txBox="1"/>
          <p:nvPr/>
        </p:nvSpPr>
        <p:spPr>
          <a:xfrm>
            <a:off x="4937760" y="32004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Agentic AI strategy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Ethical guardrails, SHAP explainability and regulatory compliance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 of the Project</a:t>
            </a:r>
            <a:endParaRPr lang="en-US" sz="3200" dirty="0"/>
          </a:p>
        </p:txBody>
      </p:sp>
      <p:sp>
        <p:nvSpPr>
          <p:cNvPr id="4" name="Scope row 1"/>
          <p:cNvSpPr/>
          <p:nvPr/>
        </p:nvSpPr>
        <p:spPr>
          <a:xfrm>
            <a:off x="457200" y="1280160"/>
            <a:ext cx="49377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cope check 1 circle"/>
          <p:cNvSpPr/>
          <p:nvPr/>
        </p:nvSpPr>
        <p:spPr>
          <a:xfrm>
            <a:off x="566928" y="135331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cope check 1" descr="Scope 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559" y="1461943"/>
            <a:ext cx="185075" cy="1850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280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Portfolio-wide exploratory analysis</a:t>
            </a:r>
            <a:endParaRPr lang="en-US" sz="1600" dirty="0"/>
          </a:p>
        </p:txBody>
      </p:sp>
      <p:sp>
        <p:nvSpPr>
          <p:cNvPr id="8" name="Scope row 2"/>
          <p:cNvSpPr/>
          <p:nvPr/>
        </p:nvSpPr>
        <p:spPr>
          <a:xfrm>
            <a:off x="457200" y="1938528"/>
            <a:ext cx="49377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cope check 2 circle"/>
          <p:cNvSpPr/>
          <p:nvPr/>
        </p:nvSpPr>
        <p:spPr>
          <a:xfrm>
            <a:off x="566928" y="201168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cope check 2" descr="Scope 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59" y="2120311"/>
            <a:ext cx="185075" cy="1850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1938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Feature importance extraction</a:t>
            </a:r>
            <a:endParaRPr lang="en-US" sz="1600" dirty="0"/>
          </a:p>
        </p:txBody>
      </p:sp>
      <p:sp>
        <p:nvSpPr>
          <p:cNvPr id="12" name="Scope row 3"/>
          <p:cNvSpPr/>
          <p:nvPr/>
        </p:nvSpPr>
        <p:spPr>
          <a:xfrm>
            <a:off x="457200" y="2596896"/>
            <a:ext cx="49377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cope check 3 circle"/>
          <p:cNvSpPr/>
          <p:nvPr/>
        </p:nvSpPr>
        <p:spPr>
          <a:xfrm>
            <a:off x="566928" y="26700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Scope check 3" descr="Scope 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59" y="2778679"/>
            <a:ext cx="185075" cy="18507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2596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Predictive risk modeling</a:t>
            </a:r>
            <a:endParaRPr lang="en-US" sz="1600" dirty="0"/>
          </a:p>
        </p:txBody>
      </p:sp>
      <p:sp>
        <p:nvSpPr>
          <p:cNvPr id="16" name="Scope row 4"/>
          <p:cNvSpPr/>
          <p:nvPr/>
        </p:nvSpPr>
        <p:spPr>
          <a:xfrm>
            <a:off x="457200" y="3255264"/>
            <a:ext cx="49377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cope check 4 circle"/>
          <p:cNvSpPr/>
          <p:nvPr/>
        </p:nvSpPr>
        <p:spPr>
          <a:xfrm>
            <a:off x="566928" y="33284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Scope check 4" descr="Scope chec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59" y="3437047"/>
            <a:ext cx="185075" cy="18507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32552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Executive report synthesis</a:t>
            </a:r>
            <a:endParaRPr lang="en-US" sz="1600" dirty="0"/>
          </a:p>
        </p:txBody>
      </p:sp>
      <p:sp>
        <p:nvSpPr>
          <p:cNvPr id="20" name="Scope row 5"/>
          <p:cNvSpPr/>
          <p:nvPr/>
        </p:nvSpPr>
        <p:spPr>
          <a:xfrm>
            <a:off x="457200" y="3913632"/>
            <a:ext cx="493776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cope check 5 circle"/>
          <p:cNvSpPr/>
          <p:nvPr/>
        </p:nvSpPr>
        <p:spPr>
          <a:xfrm>
            <a:off x="566928" y="398678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Scope check 5" descr="Scope check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59" y="4095415"/>
            <a:ext cx="185075" cy="18507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43000" y="39136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Human-in-the-loop outreach system design</a:t>
            </a:r>
            <a:endParaRPr lang="en-US" sz="1600" dirty="0"/>
          </a:p>
        </p:txBody>
      </p:sp>
      <p:sp>
        <p:nvSpPr>
          <p:cNvPr id="24" name="Scope callout"/>
          <p:cNvSpPr/>
          <p:nvPr/>
        </p:nvSpPr>
        <p:spPr>
          <a:xfrm>
            <a:off x="5760720" y="1280160"/>
            <a:ext cx="292608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Credit card icon" descr="Credit car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645920"/>
            <a:ext cx="1005840" cy="100584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035040" y="2880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Tailored for consumer credit portfolios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and Tools</a:t>
            </a:r>
            <a:endParaRPr lang="en-US" sz="3200" dirty="0"/>
          </a:p>
        </p:txBody>
      </p:sp>
      <p:sp>
        <p:nvSpPr>
          <p:cNvPr id="4" name="Tool card 1"/>
          <p:cNvSpPr/>
          <p:nvPr/>
        </p:nvSpPr>
        <p:spPr>
          <a:xfrm>
            <a:off x="457200" y="128016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ool icon 1 circl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ool icon 1" descr="Tool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611173"/>
            <a:ext cx="252374" cy="2523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Programming &amp; Analytics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(Pandas, NumPy, Scikit-Learn), SQL</a:t>
            </a:r>
            <a:endParaRPr lang="en-US" sz="1400" dirty="0"/>
          </a:p>
        </p:txBody>
      </p:sp>
      <p:sp>
        <p:nvSpPr>
          <p:cNvPr id="9" name="Tool card 2"/>
          <p:cNvSpPr/>
          <p:nvPr/>
        </p:nvSpPr>
        <p:spPr>
          <a:xfrm>
            <a:off x="4709160" y="128016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ool icon 2 circle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ool icon 2" descr="Tool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893" y="161117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 Modeling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93776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Regression, Decision Trees, XGBoost Classifier</a:t>
            </a:r>
            <a:endParaRPr lang="en-US" sz="1400" dirty="0"/>
          </a:p>
        </p:txBody>
      </p:sp>
      <p:sp>
        <p:nvSpPr>
          <p:cNvPr id="14" name="Tool card 3"/>
          <p:cNvSpPr/>
          <p:nvPr/>
        </p:nvSpPr>
        <p:spPr>
          <a:xfrm>
            <a:off x="457200" y="297180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ool icon 3 circle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ool icon 3" descr="Tool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3302813"/>
            <a:ext cx="252374" cy="25237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 Explainability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SHAP (Shapley Additive Explanations) values, Confusion Matrix</a:t>
            </a:r>
            <a:endParaRPr lang="en-US" sz="1400" dirty="0"/>
          </a:p>
        </p:txBody>
      </p:sp>
      <p:sp>
        <p:nvSpPr>
          <p:cNvPr id="19" name="Tool card 4"/>
          <p:cNvSpPr/>
          <p:nvPr/>
        </p:nvSpPr>
        <p:spPr>
          <a:xfrm>
            <a:off x="4709160" y="2971800"/>
            <a:ext cx="397764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ool icon 4 circle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Tool icon 4" descr="Tool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893" y="3302813"/>
            <a:ext cx="252374" cy="25237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6692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Generative AI &amp; Reporting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937760" y="38404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 engineering for executive reporting, HTML5/CSS3 styling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Tier card 1"/>
          <p:cNvSpPr/>
          <p:nvPr/>
        </p:nvSpPr>
        <p:spPr>
          <a:xfrm>
            <a:off x="457200" y="1280160"/>
            <a:ext cx="18745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Ingestion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Continuous capture of transactions, credit utilization and repayment history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368296" y="2743200"/>
            <a:ext cx="173736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ier card 2"/>
          <p:cNvSpPr/>
          <p:nvPr/>
        </p:nvSpPr>
        <p:spPr>
          <a:xfrm>
            <a:off x="2578608" y="1280160"/>
            <a:ext cx="18745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ber 2"/>
          <p:cNvSpPr txBox="1"/>
          <p:nvPr/>
        </p:nvSpPr>
        <p:spPr>
          <a:xfrm>
            <a:off x="2761488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761488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 Engine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761488" y="27432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Daily scoring with supervised ML classifies account risk</a:t>
            </a:r>
            <a:endParaRPr lang="en-US" sz="1400" dirty="0"/>
          </a:p>
        </p:txBody>
      </p:sp>
      <p:sp>
        <p:nvSpPr>
          <p:cNvPr id="13" name="Arrow 2"/>
          <p:cNvSpPr/>
          <p:nvPr/>
        </p:nvSpPr>
        <p:spPr>
          <a:xfrm>
            <a:off x="4489704" y="2743200"/>
            <a:ext cx="173736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ier card 3"/>
          <p:cNvSpPr/>
          <p:nvPr/>
        </p:nvSpPr>
        <p:spPr>
          <a:xfrm>
            <a:off x="4700016" y="1280160"/>
            <a:ext cx="187452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Number 3"/>
          <p:cNvSpPr txBox="1"/>
          <p:nvPr/>
        </p:nvSpPr>
        <p:spPr>
          <a:xfrm>
            <a:off x="4882896" y="146304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82896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Engine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82896" y="27432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Low-risk nudges run autonomously; high-impact actions go to human agents</a:t>
            </a:r>
            <a:endParaRPr lang="en-US" sz="1400" dirty="0"/>
          </a:p>
        </p:txBody>
      </p:sp>
      <p:sp>
        <p:nvSpPr>
          <p:cNvPr id="18" name="Arrow 3"/>
          <p:cNvSpPr/>
          <p:nvPr/>
        </p:nvSpPr>
        <p:spPr>
          <a:xfrm>
            <a:off x="6611112" y="2743200"/>
            <a:ext cx="173736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ier card 4"/>
          <p:cNvSpPr/>
          <p:nvPr/>
        </p:nvSpPr>
        <p:spPr>
          <a:xfrm>
            <a:off x="6821424" y="1280160"/>
            <a:ext cx="187452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4"/>
          <p:cNvSpPr txBox="1"/>
          <p:nvPr/>
        </p:nvSpPr>
        <p:spPr>
          <a:xfrm>
            <a:off x="7004304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004304" y="2103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Learning Loop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04304" y="274320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Borrower response feedback retrains the models continuously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Methodology</a:t>
            </a:r>
            <a:endParaRPr lang="en-US" sz="3200" dirty="0"/>
          </a:p>
        </p:txBody>
      </p:sp>
      <p:sp>
        <p:nvSpPr>
          <p:cNvPr id="4" name="Phase row 1"/>
          <p:cNvSpPr/>
          <p:nvPr/>
        </p:nvSpPr>
        <p:spPr>
          <a:xfrm>
            <a:off x="457200" y="128016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40080" y="1389888"/>
            <a:ext cx="493776" cy="49377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2801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Task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3350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Exploratory Data Analysis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16459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Uncovered core delinquency indicators in the portfolio</a:t>
            </a:r>
            <a:endParaRPr lang="en-US" sz="1400" dirty="0"/>
          </a:p>
        </p:txBody>
      </p:sp>
      <p:sp>
        <p:nvSpPr>
          <p:cNvPr id="9" name="Phase row 2"/>
          <p:cNvSpPr/>
          <p:nvPr/>
        </p:nvSpPr>
        <p:spPr>
          <a:xfrm>
            <a:off x="457200" y="210312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ber 2"/>
          <p:cNvSpPr txBox="1"/>
          <p:nvPr/>
        </p:nvSpPr>
        <p:spPr>
          <a:xfrm>
            <a:off x="640080" y="2212848"/>
            <a:ext cx="493776" cy="49377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1031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Task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215798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Predictive Delinquency Modeling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2468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Compared classifiers on AUC-ROC, precision and recall</a:t>
            </a:r>
            <a:endParaRPr lang="en-US" sz="1400" dirty="0"/>
          </a:p>
        </p:txBody>
      </p:sp>
      <p:sp>
        <p:nvSpPr>
          <p:cNvPr id="14" name="Phase row 3"/>
          <p:cNvSpPr/>
          <p:nvPr/>
        </p:nvSpPr>
        <p:spPr>
          <a:xfrm>
            <a:off x="457200" y="292608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ber 3"/>
          <p:cNvSpPr txBox="1"/>
          <p:nvPr/>
        </p:nvSpPr>
        <p:spPr>
          <a:xfrm>
            <a:off x="640080" y="3035808"/>
            <a:ext cx="493776" cy="49377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926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Task 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298094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Stakeholder Report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2194560" y="32918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2-page executive report with SMART goals and ethics</a:t>
            </a:r>
            <a:endParaRPr lang="en-US" sz="1400" dirty="0"/>
          </a:p>
        </p:txBody>
      </p:sp>
      <p:sp>
        <p:nvSpPr>
          <p:cNvPr id="19" name="Phase row 4"/>
          <p:cNvSpPr/>
          <p:nvPr/>
        </p:nvSpPr>
        <p:spPr>
          <a:xfrm>
            <a:off x="457200" y="3749040"/>
            <a:ext cx="822960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4"/>
          <p:cNvSpPr txBox="1"/>
          <p:nvPr/>
        </p:nvSpPr>
        <p:spPr>
          <a:xfrm>
            <a:off x="640080" y="3858768"/>
            <a:ext cx="493776" cy="49377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37490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Task 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94560" y="380390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Autonomous Strategy Blueprint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194560" y="41148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7-slide briefing on agentic AI, guardrails and rollout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Finding from EDA</a:t>
            </a:r>
            <a:endParaRPr lang="en-US" sz="3200" dirty="0"/>
          </a:p>
        </p:txBody>
      </p:sp>
      <p:sp>
        <p:nvSpPr>
          <p:cNvPr id="4" name="Risk factor 1"/>
          <p:cNvSpPr/>
          <p:nvPr/>
        </p:nvSpPr>
        <p:spPr>
          <a:xfrm>
            <a:off x="457200" y="1280160"/>
            <a:ext cx="384048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&gt;80%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credit utilization</a:t>
            </a:r>
            <a:endParaRPr lang="en-US" sz="1600" dirty="0"/>
          </a:p>
        </p:txBody>
      </p:sp>
      <p:sp>
        <p:nvSpPr>
          <p:cNvPr id="7" name="Risk factor 2"/>
          <p:cNvSpPr/>
          <p:nvPr/>
        </p:nvSpPr>
        <p:spPr>
          <a:xfrm>
            <a:off x="457200" y="2971800"/>
            <a:ext cx="384048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2+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86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missed payments in 6 months</a:t>
            </a:r>
            <a:endParaRPr lang="en-US" sz="1600" dirty="0"/>
          </a:p>
        </p:txBody>
      </p:sp>
      <p:sp>
        <p:nvSpPr>
          <p:cNvPr id="10" name="Chart panel"/>
          <p:cNvSpPr/>
          <p:nvPr/>
        </p:nvSpPr>
        <p:spPr>
          <a:xfrm>
            <a:off x="4572000" y="1280160"/>
            <a:ext cx="4114800" cy="3200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457200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Outcomes</a:t>
            </a:r>
            <a:endParaRPr lang="en-US" sz="3200" dirty="0"/>
          </a:p>
        </p:txBody>
      </p:sp>
      <p:sp>
        <p:nvSpPr>
          <p:cNvPr id="4" name="Outcome tile 1"/>
          <p:cNvSpPr/>
          <p:nvPr/>
        </p:nvSpPr>
        <p:spPr>
          <a:xfrm>
            <a:off x="457200" y="1280160"/>
            <a:ext cx="187452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774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reduction in 30-day delinquency rates</a:t>
            </a:r>
            <a:endParaRPr lang="en-US" sz="1400" dirty="0"/>
          </a:p>
        </p:txBody>
      </p:sp>
      <p:sp>
        <p:nvSpPr>
          <p:cNvPr id="7" name="Outcome tile 2"/>
          <p:cNvSpPr/>
          <p:nvPr/>
        </p:nvSpPr>
        <p:spPr>
          <a:xfrm>
            <a:off x="2578608" y="1280160"/>
            <a:ext cx="18745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61488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$180K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2761488" y="23774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recovery cost savings</a:t>
            </a:r>
            <a:endParaRPr lang="en-US" sz="1400" dirty="0"/>
          </a:p>
        </p:txBody>
      </p:sp>
      <p:sp>
        <p:nvSpPr>
          <p:cNvPr id="10" name="Outcome tile 3"/>
          <p:cNvSpPr/>
          <p:nvPr/>
        </p:nvSpPr>
        <p:spPr>
          <a:xfrm>
            <a:off x="4700016" y="1280160"/>
            <a:ext cx="18745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82896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25%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882896" y="23774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boost in borrower digital engagement</a:t>
            </a:r>
            <a:endParaRPr lang="en-US" sz="1400" dirty="0"/>
          </a:p>
        </p:txBody>
      </p:sp>
      <p:sp>
        <p:nvSpPr>
          <p:cNvPr id="13" name="Outcome tile 4"/>
          <p:cNvSpPr/>
          <p:nvPr/>
        </p:nvSpPr>
        <p:spPr>
          <a:xfrm>
            <a:off x="6821424" y="1280160"/>
            <a:ext cx="1874520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04304" y="14630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Fair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004304" y="237744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non-discriminatory credit treatment across sensitive cohorts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Projected results of implementing the proposed framework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Certificate and Verification</a:t>
            </a:r>
            <a:endParaRPr lang="en-US" sz="3200" dirty="0"/>
          </a:p>
        </p:txBody>
      </p:sp>
      <p:graphicFrame>
        <p:nvGraphicFramePr>
          <p:cNvPr id="14" name="Verific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</a:rPr>
                        <a:t>Participant Name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2E"/>
                          </a:solidFill>
                        </a:rPr>
                        <a:t>Mohammad Umar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</a:rPr>
                        <a:t>Program Title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2E"/>
                          </a:solidFill>
                        </a:rPr>
                        <a:t>GenAI Powered Data Analytics Job Simulation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</a:rPr>
                        <a:t>Issuing Organization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2E"/>
                          </a:solidFill>
                        </a:rPr>
                        <a:t>Tata / Forage (Co-Founder: Tom Brunskill)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</a:rPr>
                        <a:t>Issue Date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2E"/>
                          </a:solidFill>
                        </a:rPr>
                        <a:t>October 22nd, 2026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</a:rPr>
                        <a:t>Enrolment Code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2E"/>
                          </a:solidFill>
                        </a:rPr>
                        <a:t>6ad98ddd7fae55e1c953fb55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3D3E"/>
                          </a:solidFill>
                        </a:rPr>
                        <a:t>User Code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B2E"/>
                          </a:solidFill>
                        </a:rPr>
                        <a:t>6ad98d147fae55e1c953e65d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Tasks completed: EDA and risk profiling, delinquency prediction, business storytelling, AI-driven collections strategy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4" name="Reference row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594360" y="1353312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Tata Group &amp; Forage, GenAI Powered Data Analytics Job Simulation, 2026</a:t>
            </a:r>
            <a:endParaRPr lang="en-US" sz="1400" dirty="0"/>
          </a:p>
        </p:txBody>
      </p:sp>
      <p:sp>
        <p:nvSpPr>
          <p:cNvPr id="7" name="Reference row 2"/>
          <p:cNvSpPr/>
          <p:nvPr/>
        </p:nvSpPr>
        <p:spPr>
          <a:xfrm>
            <a:off x="457200" y="1938528"/>
            <a:ext cx="822960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594360" y="2011680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385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Lundberg &amp; Lee, A Unified Approach to Interpreting Model Predictions (SHAP), NeurIPS 2017</a:t>
            </a:r>
            <a:endParaRPr lang="en-US" sz="1400" dirty="0"/>
          </a:p>
        </p:txBody>
      </p:sp>
      <p:sp>
        <p:nvSpPr>
          <p:cNvPr id="10" name="Reference row 3"/>
          <p:cNvSpPr/>
          <p:nvPr/>
        </p:nvSpPr>
        <p:spPr>
          <a:xfrm>
            <a:off x="457200" y="2596896"/>
            <a:ext cx="822960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594360" y="2670048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968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Chen &amp; Guestrin, XGBoost: A Scalable Tree Boosting System, ACM SIGKDD 2016</a:t>
            </a:r>
            <a:endParaRPr lang="en-US" sz="1400" dirty="0"/>
          </a:p>
        </p:txBody>
      </p:sp>
      <p:sp>
        <p:nvSpPr>
          <p:cNvPr id="13" name="Reference row 4"/>
          <p:cNvSpPr/>
          <p:nvPr/>
        </p:nvSpPr>
        <p:spPr>
          <a:xfrm>
            <a:off x="457200" y="3255264"/>
            <a:ext cx="822960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594360" y="3328416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552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Barocas, Hardt &amp; Narayanan, Fairness and Machine Learning, MIT Press, 2023</a:t>
            </a:r>
            <a:endParaRPr lang="en-US" sz="1400" dirty="0"/>
          </a:p>
        </p:txBody>
      </p:sp>
      <p:sp>
        <p:nvSpPr>
          <p:cNvPr id="16" name="Reference row 5"/>
          <p:cNvSpPr/>
          <p:nvPr/>
        </p:nvSpPr>
        <p:spPr>
          <a:xfrm>
            <a:off x="457200" y="3913632"/>
            <a:ext cx="822960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5"/>
          <p:cNvSpPr txBox="1"/>
          <p:nvPr/>
        </p:nvSpPr>
        <p:spPr>
          <a:xfrm>
            <a:off x="594360" y="3986784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9136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IILM University, Guidelines for B.Tech CSE Internship and Project Report Preparation,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7432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Questions are welcome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Mohammad Umar  |  Roll No. 20230101089  |  B.Tech CSE, IILM University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ldium Analytics">
  <a:themeElements>
    <a:clrScheme name="Geldium Analytics">
      <a:dk1>
        <a:srgbClr val="1A2B2E"/>
      </a:dk1>
      <a:lt1>
        <a:srgbClr val="FFFFFF"/>
      </a:lt1>
      <a:dk2>
        <a:srgbClr val="0F3D3E"/>
      </a:dk2>
      <a:lt2>
        <a:srgbClr val="EAF3F1"/>
      </a:lt2>
      <a:accent1>
        <a:srgbClr val="1F7A74"/>
      </a:accent1>
      <a:accent2>
        <a:srgbClr val="F2A541"/>
      </a:accent2>
      <a:accent3>
        <a:srgbClr val="0F3D3E"/>
      </a:accent3>
      <a:accent4>
        <a:srgbClr val="5FB3A8"/>
      </a:accent4>
      <a:accent5>
        <a:srgbClr val="D9604C"/>
      </a:accent5>
      <a:accent6>
        <a:srgbClr val="7A8B8C"/>
      </a:accent6>
      <a:hlink>
        <a:srgbClr val="1F7A74"/>
      </a:hlink>
      <a:folHlink>
        <a:srgbClr val="7A8B8C"/>
      </a:folHlink>
    </a:clrScheme>
    <a:fontScheme name="Geldium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Powered Data Analytics Job Simulation</dc:title>
  <dc:subject>PptxGenJS Presentation</dc:subject>
  <dc:creator>Mohammad Umar</dc:creator>
  <cp:lastModifiedBy>Mohammad Umar</cp:lastModifiedBy>
  <cp:revision>1</cp:revision>
  <dcterms:created xsi:type="dcterms:W3CDTF">2026-10-22T05:36:43Z</dcterms:created>
  <dcterms:modified xsi:type="dcterms:W3CDTF">2026-10-22T05:36:43Z</dcterms:modified>
</cp:coreProperties>
</file>